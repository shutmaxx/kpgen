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Bricolage Grotesque" panose="020B0604020202020204" charset="0"/>
      <p:regular r:id="rId14"/>
    </p:embeddedFont>
    <p:embeddedFont>
      <p:font typeface="Inter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3781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34" Type="http://schemas.openxmlformats.org/officeDocument/2006/relationships/image" Target="../media/image59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33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32" Type="http://schemas.openxmlformats.org/officeDocument/2006/relationships/image" Target="../media/image57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36" Type="http://schemas.openxmlformats.org/officeDocument/2006/relationships/image" Target="../media/image61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31" Type="http://schemas.openxmlformats.org/officeDocument/2006/relationships/image" Target="../media/image56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Relationship Id="rId35" Type="http://schemas.openxmlformats.org/officeDocument/2006/relationships/image" Target="../media/image60.png"/><Relationship Id="rId8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16630" b="27794"/>
          <a:stretch/>
        </p:blipFill>
        <p:spPr>
          <a:xfrm>
            <a:off x="-344777" y="3938587"/>
            <a:ext cx="9474490" cy="1200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1975" y="976312"/>
            <a:ext cx="6519863" cy="2043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83"/>
              </a:lnSpc>
              <a:buNone/>
            </a:pPr>
            <a:r>
              <a:rPr lang="en-US" sz="5083" b="1" kern="0" spc="-51" dirty="0">
                <a:solidFill>
                  <a:srgbClr val="475161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ЕДИНАЯ СИСТЕМА  ТОРГОВЫХ ПРОЦЕДУР
</a:t>
            </a:r>
            <a:endParaRPr lang="en-US" sz="5083" dirty="0"/>
          </a:p>
        </p:txBody>
      </p:sp>
      <p:sp>
        <p:nvSpPr>
          <p:cNvPr id="4" name="Text 1"/>
          <p:cNvSpPr/>
          <p:nvPr/>
        </p:nvSpPr>
        <p:spPr>
          <a:xfrm>
            <a:off x="261937" y="171450"/>
            <a:ext cx="595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ESTP.RU</a:t>
            </a:r>
            <a:endParaRPr lang="en-US" sz="998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29638" y="4763"/>
            <a:ext cx="600075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48541" y="747713"/>
            <a:ext cx="73745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ru-RU" sz="4275" kern="0" spc="-128" dirty="0">
                <a:solidFill>
                  <a:srgbClr val="373737">
                    <a:alpha val="99000"/>
                  </a:srgbClr>
                </a:solidFill>
              </a:rPr>
              <a:t>Коммерческое предложение для </a:t>
            </a:r>
            <a:endParaRPr lang="en-US" sz="4275" dirty="0"/>
          </a:p>
        </p:txBody>
      </p:sp>
      <p:sp>
        <p:nvSpPr>
          <p:cNvPr id="4" name="Shape 1"/>
          <p:cNvSpPr/>
          <p:nvPr/>
        </p:nvSpPr>
        <p:spPr>
          <a:xfrm>
            <a:off x="304800" y="1757363"/>
            <a:ext cx="8534400" cy="0"/>
          </a:xfrm>
          <a:prstGeom prst="line">
            <a:avLst/>
          </a:prstGeom>
          <a:noFill/>
          <a:ln w="13573">
            <a:solidFill>
              <a:srgbClr val="66749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04800" y="2215584"/>
            <a:ext cx="853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275"/>
              </a:lnSpc>
            </a:pPr>
            <a:r>
              <a:rPr lang="ru-RU" sz="4275" dirty="0"/>
              <a:t>ПАО"ТРЕХГОРНАЯ МАНУФАКТУРА"</a:t>
            </a:r>
            <a:endParaRPr lang="en-US" sz="4275" dirty="0"/>
          </a:p>
        </p:txBody>
      </p:sp>
      <p:sp>
        <p:nvSpPr>
          <p:cNvPr id="8" name="Shape 5"/>
          <p:cNvSpPr/>
          <p:nvPr/>
        </p:nvSpPr>
        <p:spPr>
          <a:xfrm>
            <a:off x="304800" y="3146652"/>
            <a:ext cx="8534400" cy="0"/>
          </a:xfrm>
          <a:prstGeom prst="line">
            <a:avLst/>
          </a:prstGeom>
          <a:noFill/>
          <a:ln w="13573">
            <a:solidFill>
              <a:srgbClr val="66749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4800" y="3294289"/>
            <a:ext cx="2457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98"/>
              </a:lnSpc>
            </a:pPr>
            <a:r>
              <a:rPr lang="ru-RU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ИНН: 7703043089</a:t>
            </a:r>
            <a:endParaRPr lang="en-US" sz="998" dirty="0"/>
          </a:p>
        </p:txBody>
      </p:sp>
      <p:sp>
        <p:nvSpPr>
          <p:cNvPr id="12" name="Text 9"/>
          <p:cNvSpPr/>
          <p:nvPr/>
        </p:nvSpPr>
        <p:spPr>
          <a:xfrm>
            <a:off x="261937" y="171450"/>
            <a:ext cx="595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ESTP.RU</a:t>
            </a:r>
            <a:endParaRPr lang="en-US" sz="998" dirty="0"/>
          </a:p>
        </p:txBody>
      </p:sp>
      <p:pic>
        <p:nvPicPr>
          <p:cNvPr id="11" name="Рисунок 10" descr="Picture background">
            <a:extLst>
              <a:ext uri="{FF2B5EF4-FFF2-40B4-BE49-F238E27FC236}">
                <a16:creationId xmlns:a16="http://schemas.microsoft.com/office/drawing/2014/main" id="{45EF30EF-840D-D8AF-E558-841606240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822" y="3194119"/>
            <a:ext cx="3533775" cy="1914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20416" b="59589"/>
          <a:stretch/>
        </p:blipFill>
        <p:spPr>
          <a:xfrm>
            <a:off x="-2152650" y="3738563"/>
            <a:ext cx="11296650" cy="14049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747713"/>
            <a:ext cx="853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4275" kern="0" spc="-128" dirty="0">
                <a:solidFill>
                  <a:srgbClr val="373737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О НАС</a:t>
            </a:r>
            <a:endParaRPr lang="en-US" sz="4275" dirty="0"/>
          </a:p>
        </p:txBody>
      </p:sp>
      <p:sp>
        <p:nvSpPr>
          <p:cNvPr id="4" name="Shape 1"/>
          <p:cNvSpPr/>
          <p:nvPr/>
        </p:nvSpPr>
        <p:spPr>
          <a:xfrm>
            <a:off x="304800" y="1757363"/>
            <a:ext cx="8534400" cy="0"/>
          </a:xfrm>
          <a:prstGeom prst="line">
            <a:avLst/>
          </a:prstGeom>
          <a:noFill/>
          <a:ln w="13573">
            <a:solidFill>
              <a:srgbClr val="66749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04800" y="1905000"/>
            <a:ext cx="20050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4275" kern="0" spc="-128" dirty="0">
                <a:solidFill>
                  <a:srgbClr val="373737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7 023</a:t>
            </a:r>
            <a:endParaRPr lang="en-US" sz="4275" dirty="0"/>
          </a:p>
        </p:txBody>
      </p:sp>
      <p:sp>
        <p:nvSpPr>
          <p:cNvPr id="6" name="Text 3"/>
          <p:cNvSpPr/>
          <p:nvPr/>
        </p:nvSpPr>
        <p:spPr>
          <a:xfrm>
            <a:off x="3209925" y="1905000"/>
            <a:ext cx="20050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4275" kern="0" spc="-128" dirty="0">
                <a:solidFill>
                  <a:srgbClr val="373737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700 000</a:t>
            </a:r>
            <a:endParaRPr lang="en-US" sz="4275" dirty="0"/>
          </a:p>
        </p:txBody>
      </p:sp>
      <p:sp>
        <p:nvSpPr>
          <p:cNvPr id="7" name="Text 4"/>
          <p:cNvSpPr/>
          <p:nvPr/>
        </p:nvSpPr>
        <p:spPr>
          <a:xfrm>
            <a:off x="6115050" y="1905000"/>
            <a:ext cx="200501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4275" kern="0" spc="-128" dirty="0">
                <a:solidFill>
                  <a:srgbClr val="373737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113 091</a:t>
            </a:r>
            <a:endParaRPr lang="en-US" sz="4275" dirty="0"/>
          </a:p>
        </p:txBody>
      </p:sp>
      <p:sp>
        <p:nvSpPr>
          <p:cNvPr id="8" name="Shape 5"/>
          <p:cNvSpPr/>
          <p:nvPr/>
        </p:nvSpPr>
        <p:spPr>
          <a:xfrm>
            <a:off x="304800" y="2624138"/>
            <a:ext cx="8534400" cy="0"/>
          </a:xfrm>
          <a:prstGeom prst="line">
            <a:avLst/>
          </a:prstGeom>
          <a:noFill/>
          <a:ln w="13573">
            <a:solidFill>
              <a:srgbClr val="66749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4800" y="2771775"/>
            <a:ext cx="2457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ЗАКАЗЧИКОВ</a:t>
            </a:r>
            <a:endParaRPr lang="en-US" sz="998" dirty="0"/>
          </a:p>
        </p:txBody>
      </p:sp>
      <p:sp>
        <p:nvSpPr>
          <p:cNvPr id="10" name="Text 7"/>
          <p:cNvSpPr/>
          <p:nvPr/>
        </p:nvSpPr>
        <p:spPr>
          <a:xfrm>
            <a:off x="3209925" y="2771775"/>
            <a:ext cx="2452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ПОСТАВЩИКОВ</a:t>
            </a:r>
            <a:endParaRPr lang="en-US" sz="998" dirty="0"/>
          </a:p>
        </p:txBody>
      </p:sp>
      <p:sp>
        <p:nvSpPr>
          <p:cNvPr id="11" name="Text 8"/>
          <p:cNvSpPr/>
          <p:nvPr/>
        </p:nvSpPr>
        <p:spPr>
          <a:xfrm>
            <a:off x="6110288" y="2771775"/>
            <a:ext cx="25193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ЗАКУПОК</a:t>
            </a:r>
            <a:endParaRPr lang="en-US" sz="998" dirty="0"/>
          </a:p>
        </p:txBody>
      </p:sp>
      <p:sp>
        <p:nvSpPr>
          <p:cNvPr id="12" name="Text 9"/>
          <p:cNvSpPr/>
          <p:nvPr/>
        </p:nvSpPr>
        <p:spPr>
          <a:xfrm>
            <a:off x="261937" y="171450"/>
            <a:ext cx="595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ESTP.RU</a:t>
            </a:r>
            <a:endParaRPr lang="en-US" sz="998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01025" y="4338638"/>
            <a:ext cx="638175" cy="638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28144" b="23554"/>
          <a:stretch/>
        </p:blipFill>
        <p:spPr>
          <a:xfrm>
            <a:off x="-2509838" y="4262438"/>
            <a:ext cx="11653837" cy="8810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1937" y="171450"/>
            <a:ext cx="595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ESTP.RU</a:t>
            </a:r>
            <a:endParaRPr lang="en-US" sz="998" dirty="0"/>
          </a:p>
        </p:txBody>
      </p:sp>
      <p:sp>
        <p:nvSpPr>
          <p:cNvPr id="4" name="Text 1"/>
          <p:cNvSpPr/>
          <p:nvPr/>
        </p:nvSpPr>
        <p:spPr>
          <a:xfrm>
            <a:off x="666750" y="371475"/>
            <a:ext cx="81057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ПЕРСОНАЛЬНОЕ СОПРОВОЖДЕНИЕ И РАСШИРЕННЫЙ ПОИСК ПОСТАВЩИКОВ</a:t>
            </a:r>
            <a:endParaRPr lang="en-US" sz="2280" dirty="0"/>
          </a:p>
        </p:txBody>
      </p:sp>
      <p:sp>
        <p:nvSpPr>
          <p:cNvPr id="5" name="Text 2"/>
          <p:cNvSpPr/>
          <p:nvPr/>
        </p:nvSpPr>
        <p:spPr>
          <a:xfrm>
            <a:off x="3881438" y="1271588"/>
            <a:ext cx="3567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ЛИЧНЫХ МЕНЕДЖЕРА НА ВЕСЬ ЦИКЛ ЗАКУПКИ</a:t>
            </a:r>
            <a:endParaRPr lang="en-US" sz="998" dirty="0"/>
          </a:p>
        </p:txBody>
      </p:sp>
      <p:sp>
        <p:nvSpPr>
          <p:cNvPr id="6" name="Text 3"/>
          <p:cNvSpPr/>
          <p:nvPr/>
        </p:nvSpPr>
        <p:spPr>
          <a:xfrm>
            <a:off x="3881438" y="2147888"/>
            <a:ext cx="42338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ТЕЛЕМАРКЕТИНГ ДЛЯ ПРИВЛЕЧЕНИЯ ПОСТАВЩИКОВ</a:t>
            </a:r>
            <a:endParaRPr lang="en-US" sz="998" dirty="0"/>
          </a:p>
        </p:txBody>
      </p:sp>
      <p:sp>
        <p:nvSpPr>
          <p:cNvPr id="7" name="Text 4"/>
          <p:cNvSpPr/>
          <p:nvPr/>
        </p:nvSpPr>
        <p:spPr>
          <a:xfrm>
            <a:off x="3881438" y="3024188"/>
            <a:ext cx="3338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ТЩАТЕЛЬНЫЙ ПОДБОР И АУДИТ ПОСТАВЩИКОВ</a:t>
            </a:r>
            <a:endParaRPr lang="en-US" sz="998" dirty="0"/>
          </a:p>
        </p:txBody>
      </p:sp>
      <p:sp>
        <p:nvSpPr>
          <p:cNvPr id="8" name="Text 5"/>
          <p:cNvSpPr/>
          <p:nvPr/>
        </p:nvSpPr>
        <p:spPr>
          <a:xfrm>
            <a:off x="3881438" y="1476375"/>
            <a:ext cx="471011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Каждой компании назначается два персональных специалиста, которые осуществляют поддержку от подготовки до завершения закупок, обеспечивая индивидуальный подход и постоянный мониторинг процессов.</a:t>
            </a:r>
            <a:endParaRPr lang="en-US" sz="855" dirty="0"/>
          </a:p>
        </p:txBody>
      </p:sp>
      <p:sp>
        <p:nvSpPr>
          <p:cNvPr id="9" name="Text 6"/>
          <p:cNvSpPr/>
          <p:nvPr/>
        </p:nvSpPr>
        <p:spPr>
          <a:xfrm>
            <a:off x="3881438" y="2352675"/>
            <a:ext cx="437673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Активное приглашение потенциальных поставщиков по всей России через телемаркетинг, что помогает расширить базу участников и увеличить конкуренцию.</a:t>
            </a:r>
            <a:endParaRPr lang="en-US" sz="855" dirty="0"/>
          </a:p>
        </p:txBody>
      </p:sp>
      <p:sp>
        <p:nvSpPr>
          <p:cNvPr id="10" name="Text 7"/>
          <p:cNvSpPr/>
          <p:nvPr/>
        </p:nvSpPr>
        <p:spPr>
          <a:xfrm>
            <a:off x="3881438" y="3228975"/>
            <a:ext cx="44196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6"/>
              </a:lnSpc>
              <a:buNone/>
            </a:pPr>
            <a:r>
              <a:rPr lang="en-US" sz="855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Используется классификация по ОКВЭД2 и внутренним классификаторам, а также проводится аудит и сертификация, что повышает качество и надежность участников закупочных процедур.</a:t>
            </a:r>
            <a:endParaRPr lang="en-US" sz="855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57588" y="3024188"/>
            <a:ext cx="247650" cy="24765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52825" y="2152650"/>
            <a:ext cx="252413" cy="252413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552825" y="1271588"/>
            <a:ext cx="252413" cy="252413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8700" y="2152650"/>
            <a:ext cx="1119188" cy="111918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6725" y="1785938"/>
            <a:ext cx="1119188" cy="1119188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90675" y="1785938"/>
            <a:ext cx="1119188" cy="11191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34264" b="37381"/>
          <a:stretch/>
        </p:blipFill>
        <p:spPr>
          <a:xfrm>
            <a:off x="4657725" y="-938213"/>
            <a:ext cx="4486275" cy="1571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00575" y="942975"/>
            <a:ext cx="44624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47516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 И УДОБСТВО ПРОВЕДЕНИЯ ТЕНДЕРОВ</a:t>
            </a:r>
            <a:endParaRPr lang="en-US" sz="2280" dirty="0"/>
          </a:p>
        </p:txBody>
      </p:sp>
      <p:sp>
        <p:nvSpPr>
          <p:cNvPr id="4" name="Text 1"/>
          <p:cNvSpPr/>
          <p:nvPr/>
        </p:nvSpPr>
        <p:spPr>
          <a:xfrm>
            <a:off x="261937" y="171450"/>
            <a:ext cx="595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ESTP.RU</a:t>
            </a:r>
            <a:endParaRPr lang="en-US" sz="998" dirty="0"/>
          </a:p>
        </p:txBody>
      </p:sp>
      <p:sp>
        <p:nvSpPr>
          <p:cNvPr id="5" name="Text 2"/>
          <p:cNvSpPr/>
          <p:nvPr/>
        </p:nvSpPr>
        <p:spPr>
          <a:xfrm>
            <a:off x="600075" y="957263"/>
            <a:ext cx="36957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7516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БЫСТРОЕ РАЗМЕЩЕНИЕ И ДУБЛИРОВАНИЕ ЗАКУПОК</a:t>
            </a:r>
            <a:endParaRPr lang="en-US" sz="998" dirty="0"/>
          </a:p>
        </p:txBody>
      </p:sp>
      <p:sp>
        <p:nvSpPr>
          <p:cNvPr id="6" name="Text 3"/>
          <p:cNvSpPr/>
          <p:nvPr/>
        </p:nvSpPr>
        <p:spPr>
          <a:xfrm>
            <a:off x="561975" y="2147888"/>
            <a:ext cx="3252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7516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АНАЛИТИКА И ПРИГЛАШЕНИЕ ПОСТАВЩИКОВ</a:t>
            </a:r>
            <a:endParaRPr lang="en-US" sz="998" dirty="0"/>
          </a:p>
        </p:txBody>
      </p:sp>
      <p:sp>
        <p:nvSpPr>
          <p:cNvPr id="7" name="Text 4"/>
          <p:cNvSpPr/>
          <p:nvPr/>
        </p:nvSpPr>
        <p:spPr>
          <a:xfrm>
            <a:off x="561975" y="3290888"/>
            <a:ext cx="1171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7516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БЕЗ ЭЦП</a:t>
            </a:r>
            <a:endParaRPr lang="en-US" sz="998" dirty="0"/>
          </a:p>
        </p:txBody>
      </p:sp>
      <p:sp>
        <p:nvSpPr>
          <p:cNvPr id="8" name="Text 5"/>
          <p:cNvSpPr/>
          <p:nvPr/>
        </p:nvSpPr>
        <p:spPr>
          <a:xfrm>
            <a:off x="600075" y="1147763"/>
            <a:ext cx="31051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Тендер размещается за пять минут с возможностью автоматического дублирования на популярных агрегаторах, что существенно расширяет охват и ускоряет процесс закупки.</a:t>
            </a:r>
            <a:endParaRPr lang="en-US" sz="926" dirty="0"/>
          </a:p>
        </p:txBody>
      </p:sp>
      <p:sp>
        <p:nvSpPr>
          <p:cNvPr id="9" name="Text 6"/>
          <p:cNvSpPr/>
          <p:nvPr/>
        </p:nvSpPr>
        <p:spPr>
          <a:xfrm>
            <a:off x="576263" y="2338388"/>
            <a:ext cx="34099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формирует сводную таблицу коммерческих предложений, а приглашение поставщиков возможно на всех этапах рассмотрения предложений для повышения конкуренции.</a:t>
            </a:r>
            <a:endParaRPr lang="en-US" sz="926" dirty="0"/>
          </a:p>
        </p:txBody>
      </p:sp>
      <p:sp>
        <p:nvSpPr>
          <p:cNvPr id="10" name="Text 7"/>
          <p:cNvSpPr/>
          <p:nvPr/>
        </p:nvSpPr>
        <p:spPr>
          <a:xfrm>
            <a:off x="561975" y="3481388"/>
            <a:ext cx="31337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926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Площадка позволяет проводить закупки без необходимости использования электронной подписи, обеспечивая высокую скорость работы и простоту взаимодействия. </a:t>
            </a:r>
            <a:endParaRPr lang="en-US" sz="926" dirty="0"/>
          </a:p>
        </p:txBody>
      </p:sp>
      <p:sp>
        <p:nvSpPr>
          <p:cNvPr id="11" name="Shape 8"/>
          <p:cNvSpPr/>
          <p:nvPr/>
        </p:nvSpPr>
        <p:spPr>
          <a:xfrm>
            <a:off x="561975" y="4338638"/>
            <a:ext cx="3695700" cy="0"/>
          </a:xfrm>
          <a:prstGeom prst="line">
            <a:avLst/>
          </a:prstGeom>
          <a:noFill/>
          <a:ln w="18097">
            <a:solidFill>
              <a:srgbClr val="4A474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72113" y="2147888"/>
            <a:ext cx="2719388" cy="2719388"/>
          </a:xfrm>
          <a:prstGeom prst="rect">
            <a:avLst/>
          </a:prstGeom>
          <a:noFill/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98729" y="2374503"/>
            <a:ext cx="2332832" cy="2219524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76988" y="3233738"/>
            <a:ext cx="914400" cy="9144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00075" y="619125"/>
            <a:ext cx="3695700" cy="0"/>
          </a:xfrm>
          <a:prstGeom prst="line">
            <a:avLst/>
          </a:prstGeom>
          <a:noFill/>
          <a:ln w="18097">
            <a:solidFill>
              <a:srgbClr val="4A474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3075" b="27551"/>
          <a:stretch/>
        </p:blipFill>
        <p:spPr>
          <a:xfrm>
            <a:off x="5691187" y="1762125"/>
            <a:ext cx="3452813" cy="3381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1012" y="104775"/>
            <a:ext cx="763428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1"/>
              </a:lnSpc>
              <a:buNone/>
            </a:pPr>
            <a:r>
              <a:rPr lang="en-US" sz="2301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ТАРИФЫ ДЛЯ КОММЕРЧЕСКИХ ЗАКАЗЧИКОВ</a:t>
            </a:r>
            <a:endParaRPr lang="en-US" sz="2301" dirty="0"/>
          </a:p>
        </p:txBody>
      </p:sp>
      <p:sp>
        <p:nvSpPr>
          <p:cNvPr id="4" name="Text 1"/>
          <p:cNvSpPr/>
          <p:nvPr/>
        </p:nvSpPr>
        <p:spPr>
          <a:xfrm>
            <a:off x="8439150" y="104775"/>
            <a:ext cx="595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ESTP.RU</a:t>
            </a:r>
            <a:endParaRPr lang="en-US" sz="998" dirty="0"/>
          </a:p>
        </p:txBody>
      </p:sp>
      <p:sp>
        <p:nvSpPr>
          <p:cNvPr id="5" name="Text 2"/>
          <p:cNvSpPr/>
          <p:nvPr/>
        </p:nvSpPr>
        <p:spPr>
          <a:xfrm>
            <a:off x="1757363" y="681038"/>
            <a:ext cx="2243138" cy="1785938"/>
          </a:xfrm>
          <a:prstGeom prst="roundRect">
            <a:avLst>
              <a:gd name="adj" fmla="val 8192"/>
            </a:avLst>
          </a:prstGeom>
          <a:solidFill>
            <a:srgbClr val="D9D9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705100" y="771525"/>
            <a:ext cx="381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ЛАЙТ</a:t>
            </a:r>
            <a:endParaRPr lang="en-US" sz="998" dirty="0"/>
          </a:p>
        </p:txBody>
      </p:sp>
      <p:sp>
        <p:nvSpPr>
          <p:cNvPr id="7" name="Text 4"/>
          <p:cNvSpPr/>
          <p:nvPr/>
        </p:nvSpPr>
        <p:spPr>
          <a:xfrm>
            <a:off x="1862138" y="1009650"/>
            <a:ext cx="20478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97"/>
              </a:lnSpc>
              <a:buNone/>
            </a:pPr>
            <a:r>
              <a:rPr lang="en-US" sz="998" i="1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мес.</a:t>
            </a:r>
            <a:r>
              <a:rPr lang="en-US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31 720₽</a:t>
            </a:r>
            <a:r>
              <a:rPr lang="ru-RU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(в т.ч. НДС 22%)</a:t>
            </a:r>
          </a:p>
          <a:p>
            <a:pPr algn="ctr">
              <a:lnSpc>
                <a:spcPts val="1197"/>
              </a:lnSpc>
            </a:pPr>
            <a:r>
              <a:rPr lang="en-US" sz="998" i="1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 мес</a:t>
            </a:r>
            <a:r>
              <a:rPr lang="en-US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52 460₽</a:t>
            </a:r>
            <a:r>
              <a:rPr lang="ru-RU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(в т.ч. НДС 22%)</a:t>
            </a:r>
            <a:endParaRPr lang="en-US" sz="998" dirty="0"/>
          </a:p>
        </p:txBody>
      </p:sp>
      <p:sp>
        <p:nvSpPr>
          <p:cNvPr id="8" name="Text 5"/>
          <p:cNvSpPr/>
          <p:nvPr/>
        </p:nvSpPr>
        <p:spPr>
          <a:xfrm>
            <a:off x="1757363" y="3052763"/>
            <a:ext cx="2243138" cy="1785938"/>
          </a:xfrm>
          <a:prstGeom prst="roundRect">
            <a:avLst>
              <a:gd name="adj" fmla="val 8192"/>
            </a:avLst>
          </a:prstGeom>
          <a:solidFill>
            <a:srgbClr val="D9D9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862138" y="3414713"/>
            <a:ext cx="204787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97"/>
              </a:lnSpc>
            </a:pPr>
            <a:r>
              <a:rPr lang="en-US" sz="998" i="1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мес.</a:t>
            </a:r>
            <a:r>
              <a:rPr lang="en-US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43 920₽</a:t>
            </a:r>
            <a:r>
              <a:rPr lang="ru-RU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(в т.ч. НДС 22%)</a:t>
            </a:r>
            <a:endParaRPr lang="en-US" sz="998" dirty="0"/>
          </a:p>
          <a:p>
            <a:pPr algn="ctr">
              <a:lnSpc>
                <a:spcPts val="1197"/>
              </a:lnSpc>
            </a:pPr>
            <a:r>
              <a:rPr lang="en-US" sz="998" i="1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мес.</a:t>
            </a:r>
            <a:r>
              <a:rPr lang="en-US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67 100₽</a:t>
            </a:r>
            <a:r>
              <a:rPr lang="ru-RU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(в т.ч. НДС 22%)</a:t>
            </a:r>
            <a:endParaRPr lang="en-US" sz="998" dirty="0"/>
          </a:p>
        </p:txBody>
      </p:sp>
      <p:sp>
        <p:nvSpPr>
          <p:cNvPr id="10" name="Text 7"/>
          <p:cNvSpPr/>
          <p:nvPr/>
        </p:nvSpPr>
        <p:spPr>
          <a:xfrm>
            <a:off x="2738438" y="3176588"/>
            <a:ext cx="2905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</a:t>
            </a:r>
            <a:endParaRPr lang="en-US" sz="998" dirty="0"/>
          </a:p>
        </p:txBody>
      </p:sp>
      <p:sp>
        <p:nvSpPr>
          <p:cNvPr id="11" name="Text 8"/>
          <p:cNvSpPr/>
          <p:nvPr/>
        </p:nvSpPr>
        <p:spPr>
          <a:xfrm>
            <a:off x="4657725" y="3038475"/>
            <a:ext cx="2243138" cy="1785938"/>
          </a:xfrm>
          <a:prstGeom prst="roundRect">
            <a:avLst>
              <a:gd name="adj" fmla="val 8192"/>
            </a:avLst>
          </a:prstGeom>
          <a:solidFill>
            <a:srgbClr val="D9D9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72025" y="3948112"/>
            <a:ext cx="1928813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функции тарифов “Лайт” и “Про”</a:t>
            </a:r>
            <a:endParaRPr lang="en-US" sz="926" dirty="0"/>
          </a:p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Заказчик сам утверждает условия для участия в закупках</a:t>
            </a:r>
            <a:endParaRPr lang="en-US" sz="926" dirty="0"/>
          </a:p>
        </p:txBody>
      </p:sp>
      <p:sp>
        <p:nvSpPr>
          <p:cNvPr id="13" name="Text 10"/>
          <p:cNvSpPr/>
          <p:nvPr/>
        </p:nvSpPr>
        <p:spPr>
          <a:xfrm>
            <a:off x="4724400" y="3448050"/>
            <a:ext cx="21108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3"/>
              </a:lnSpc>
              <a:buNone/>
            </a:pPr>
            <a:r>
              <a:rPr lang="en-US" sz="902" i="1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Условия и стоимость устанавливаются заказчиком</a:t>
            </a:r>
            <a:endParaRPr lang="en-US" sz="902" dirty="0"/>
          </a:p>
        </p:txBody>
      </p:sp>
      <p:sp>
        <p:nvSpPr>
          <p:cNvPr id="14" name="Text 11"/>
          <p:cNvSpPr/>
          <p:nvPr/>
        </p:nvSpPr>
        <p:spPr>
          <a:xfrm>
            <a:off x="4657725" y="681038"/>
            <a:ext cx="2243138" cy="1785938"/>
          </a:xfrm>
          <a:prstGeom prst="roundRect">
            <a:avLst>
              <a:gd name="adj" fmla="val 8192"/>
            </a:avLst>
          </a:prstGeom>
          <a:solidFill>
            <a:srgbClr val="D9D9D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86313" y="1547813"/>
            <a:ext cx="19859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функции тарифа “Лайт”</a:t>
            </a:r>
            <a:endParaRPr lang="en-US" sz="926" dirty="0"/>
          </a:p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Закрытые тендеры</a:t>
            </a:r>
            <a:endParaRPr lang="en-US" sz="926" dirty="0"/>
          </a:p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Рассылка приглашений</a:t>
            </a:r>
            <a:endParaRPr lang="en-US" sz="926" dirty="0"/>
          </a:p>
        </p:txBody>
      </p:sp>
      <p:sp>
        <p:nvSpPr>
          <p:cNvPr id="16" name="Text 13"/>
          <p:cNvSpPr/>
          <p:nvPr/>
        </p:nvSpPr>
        <p:spPr>
          <a:xfrm>
            <a:off x="5462588" y="771525"/>
            <a:ext cx="63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ПАРТНЕР</a:t>
            </a:r>
            <a:endParaRPr lang="en-US" sz="998" dirty="0"/>
          </a:p>
        </p:txBody>
      </p:sp>
      <p:sp>
        <p:nvSpPr>
          <p:cNvPr id="17" name="Text 14"/>
          <p:cNvSpPr/>
          <p:nvPr/>
        </p:nvSpPr>
        <p:spPr>
          <a:xfrm>
            <a:off x="4786313" y="1009650"/>
            <a:ext cx="20097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97"/>
              </a:lnSpc>
            </a:pPr>
            <a:r>
              <a:rPr lang="en-US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12 200₽</a:t>
            </a:r>
            <a:r>
              <a:rPr lang="ru-RU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(в т.ч. НДС 22%)</a:t>
            </a:r>
            <a:endParaRPr lang="en-US" sz="998" dirty="0"/>
          </a:p>
          <a:p>
            <a:pPr marL="0" indent="0" algn="ctr">
              <a:lnSpc>
                <a:spcPts val="1197"/>
              </a:lnSpc>
              <a:buNone/>
            </a:pPr>
            <a:r>
              <a:rPr lang="en-US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1 тендер</a:t>
            </a:r>
            <a:endParaRPr lang="en-US" sz="998" dirty="0"/>
          </a:p>
        </p:txBody>
      </p:sp>
      <p:sp>
        <p:nvSpPr>
          <p:cNvPr id="18" name="Text 15"/>
          <p:cNvSpPr/>
          <p:nvPr/>
        </p:nvSpPr>
        <p:spPr>
          <a:xfrm>
            <a:off x="5095875" y="3176588"/>
            <a:ext cx="13668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ИНДИВИДУАЛЬНЫЙ</a:t>
            </a:r>
            <a:endParaRPr lang="en-US" sz="998" dirty="0"/>
          </a:p>
        </p:txBody>
      </p:sp>
      <p:sp>
        <p:nvSpPr>
          <p:cNvPr id="19" name="Shape 16"/>
          <p:cNvSpPr/>
          <p:nvPr/>
        </p:nvSpPr>
        <p:spPr>
          <a:xfrm>
            <a:off x="1881187" y="1476375"/>
            <a:ext cx="2033588" cy="0"/>
          </a:xfrm>
          <a:prstGeom prst="line">
            <a:avLst/>
          </a:prstGeom>
          <a:noFill/>
          <a:ln w="4524">
            <a:solidFill>
              <a:srgbClr val="4A474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862138" y="3867150"/>
            <a:ext cx="2033588" cy="0"/>
          </a:xfrm>
          <a:prstGeom prst="line">
            <a:avLst/>
          </a:prstGeom>
          <a:noFill/>
          <a:ln w="4524">
            <a:solidFill>
              <a:srgbClr val="4A474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62500" y="1476375"/>
            <a:ext cx="2033588" cy="0"/>
          </a:xfrm>
          <a:prstGeom prst="line">
            <a:avLst/>
          </a:prstGeom>
          <a:noFill/>
          <a:ln w="4524">
            <a:solidFill>
              <a:srgbClr val="4A474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62500" y="3867150"/>
            <a:ext cx="2033588" cy="0"/>
          </a:xfrm>
          <a:prstGeom prst="line">
            <a:avLst/>
          </a:prstGeom>
          <a:noFill/>
          <a:ln w="4524">
            <a:solidFill>
              <a:srgbClr val="4A47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47850" y="1547813"/>
            <a:ext cx="2147888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Безлимитные закупки</a:t>
            </a:r>
            <a:endParaRPr lang="en-US" sz="926" dirty="0"/>
          </a:p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Личный менеджер</a:t>
            </a:r>
            <a:endParaRPr lang="en-US" sz="926" dirty="0"/>
          </a:p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Участники подают заявки бесплатно</a:t>
            </a:r>
            <a:endParaRPr lang="en-US" sz="926" dirty="0"/>
          </a:p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поставщиков</a:t>
            </a:r>
            <a:endParaRPr lang="en-US" sz="926" dirty="0"/>
          </a:p>
        </p:txBody>
      </p:sp>
      <p:sp>
        <p:nvSpPr>
          <p:cNvPr id="24" name="Text 21"/>
          <p:cNvSpPr/>
          <p:nvPr/>
        </p:nvSpPr>
        <p:spPr>
          <a:xfrm>
            <a:off x="1824038" y="3948112"/>
            <a:ext cx="2200275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функции тарифа “Лайт”</a:t>
            </a:r>
            <a:endParaRPr lang="en-US" sz="926" dirty="0"/>
          </a:p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поиск поставщиков</a:t>
            </a:r>
            <a:endParaRPr lang="en-US" sz="926" dirty="0"/>
          </a:p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Ускоренная аккредитация</a:t>
            </a:r>
            <a:endParaRPr lang="en-US" sz="926" dirty="0"/>
          </a:p>
          <a:p>
            <a:pPr marL="342900" indent="-342900" algn="l">
              <a:lnSpc>
                <a:spcPts val="1112"/>
              </a:lnSpc>
              <a:buSzPct val="100000"/>
              <a:buChar char="•"/>
            </a:pPr>
            <a:r>
              <a:rPr lang="en-US" sz="92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Индивидуальное сопровождение</a:t>
            </a:r>
            <a:endParaRPr lang="en-US" sz="92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AC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12903" b="32231"/>
          <a:stretch/>
        </p:blipFill>
        <p:spPr>
          <a:xfrm>
            <a:off x="4772025" y="3971925"/>
            <a:ext cx="4371975" cy="1171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6413" y="1100138"/>
            <a:ext cx="2243138" cy="2690813"/>
          </a:xfrm>
          <a:prstGeom prst="roundRect">
            <a:avLst>
              <a:gd name="adj" fmla="val 130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909762" y="1814513"/>
            <a:ext cx="1971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97"/>
              </a:lnSpc>
              <a:buNone/>
            </a:pPr>
            <a:r>
              <a:rPr lang="en-US" sz="998" i="1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мес. (6 участий)</a:t>
            </a:r>
            <a:r>
              <a:rPr lang="en-US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35 380₽</a:t>
            </a:r>
            <a:endParaRPr lang="ru-RU" sz="998" dirty="0">
              <a:solidFill>
                <a:srgbClr val="262C35">
                  <a:alpha val="99000"/>
                </a:srgb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ctr">
              <a:lnSpc>
                <a:spcPts val="1197"/>
              </a:lnSpc>
              <a:buNone/>
            </a:pPr>
            <a:r>
              <a:rPr lang="en-US" sz="998" i="1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мес. (15 участий)</a:t>
            </a:r>
            <a:r>
              <a:rPr lang="en-US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54 900₽</a:t>
            </a:r>
            <a:endParaRPr lang="en-US" sz="998" dirty="0"/>
          </a:p>
        </p:txBody>
      </p:sp>
      <p:sp>
        <p:nvSpPr>
          <p:cNvPr id="5" name="Text 2"/>
          <p:cNvSpPr/>
          <p:nvPr/>
        </p:nvSpPr>
        <p:spPr>
          <a:xfrm>
            <a:off x="5143500" y="1095375"/>
            <a:ext cx="2243138" cy="2695575"/>
          </a:xfrm>
          <a:prstGeom prst="roundRect">
            <a:avLst>
              <a:gd name="adj" fmla="val 130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224463" y="2319338"/>
            <a:ext cx="2149061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4"/>
              </a:lnSpc>
              <a:buSzPct val="100000"/>
              <a:buChar char="•"/>
            </a:pPr>
            <a:r>
              <a:rPr lang="en-US" sz="96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функции тарифа “Лайт”</a:t>
            </a:r>
            <a:endParaRPr lang="en-US" sz="962" dirty="0"/>
          </a:p>
          <a:p>
            <a:pPr marL="342900" indent="-342900" algn="l">
              <a:lnSpc>
                <a:spcPts val="1154"/>
              </a:lnSpc>
              <a:buSzPct val="100000"/>
              <a:buChar char="•"/>
            </a:pPr>
            <a:r>
              <a:rPr lang="en-US" sz="96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Участие в закупках у неограниченного количества Заказчиков.</a:t>
            </a:r>
            <a:endParaRPr lang="en-US" sz="962" dirty="0"/>
          </a:p>
          <a:p>
            <a:pPr marL="342900" indent="-342900" algn="l">
              <a:lnSpc>
                <a:spcPts val="1154"/>
              </a:lnSpc>
              <a:buSzPct val="100000"/>
              <a:buChar char="•"/>
            </a:pPr>
            <a:r>
              <a:rPr lang="en-US" sz="96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Ускоренная аккредитация.</a:t>
            </a:r>
            <a:endParaRPr lang="en-US" sz="962" dirty="0"/>
          </a:p>
          <a:p>
            <a:pPr marL="342900" indent="-342900" algn="l">
              <a:lnSpc>
                <a:spcPts val="1154"/>
              </a:lnSpc>
              <a:buSzPct val="100000"/>
              <a:buChar char="•"/>
            </a:pPr>
            <a:r>
              <a:rPr lang="en-US" sz="96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Ускоренное зачисление денежных средств на лицевой счёт.</a:t>
            </a:r>
            <a:endParaRPr lang="en-US" sz="962" dirty="0"/>
          </a:p>
        </p:txBody>
      </p:sp>
      <p:sp>
        <p:nvSpPr>
          <p:cNvPr id="7" name="Text 4"/>
          <p:cNvSpPr/>
          <p:nvPr/>
        </p:nvSpPr>
        <p:spPr>
          <a:xfrm>
            <a:off x="2181225" y="138113"/>
            <a:ext cx="47863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1"/>
              </a:lnSpc>
              <a:buNone/>
            </a:pPr>
            <a:r>
              <a:rPr lang="en-US" sz="2301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ТАРИФЫ ДЛЯ УЧАСТНИКОВ В КОММЕРЧЕСКИХ ТЕНДЕРАХ</a:t>
            </a:r>
            <a:endParaRPr lang="en-US" sz="2301" dirty="0"/>
          </a:p>
        </p:txBody>
      </p:sp>
      <p:sp>
        <p:nvSpPr>
          <p:cNvPr id="8" name="Text 5"/>
          <p:cNvSpPr/>
          <p:nvPr/>
        </p:nvSpPr>
        <p:spPr>
          <a:xfrm>
            <a:off x="2705100" y="1566863"/>
            <a:ext cx="3857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ЛАЙТ</a:t>
            </a:r>
            <a:endParaRPr lang="en-US" sz="998" dirty="0"/>
          </a:p>
        </p:txBody>
      </p:sp>
      <p:sp>
        <p:nvSpPr>
          <p:cNvPr id="9" name="Text 6"/>
          <p:cNvSpPr/>
          <p:nvPr/>
        </p:nvSpPr>
        <p:spPr>
          <a:xfrm>
            <a:off x="6057900" y="1566863"/>
            <a:ext cx="414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8"/>
              </a:lnSpc>
              <a:buNone/>
            </a:pPr>
            <a:r>
              <a:rPr lang="en-US" sz="998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</a:t>
            </a:r>
            <a:endParaRPr lang="en-US" sz="998" dirty="0"/>
          </a:p>
        </p:txBody>
      </p:sp>
      <p:sp>
        <p:nvSpPr>
          <p:cNvPr id="10" name="Text 7"/>
          <p:cNvSpPr/>
          <p:nvPr/>
        </p:nvSpPr>
        <p:spPr>
          <a:xfrm>
            <a:off x="5310188" y="1814513"/>
            <a:ext cx="19716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97"/>
              </a:lnSpc>
              <a:buNone/>
            </a:pPr>
            <a:r>
              <a:rPr lang="en-US" sz="998" i="1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мес. (10 участий)</a:t>
            </a:r>
            <a:r>
              <a:rPr lang="en-US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57 340₽</a:t>
            </a:r>
            <a:endParaRPr lang="ru-RU" sz="998" dirty="0">
              <a:solidFill>
                <a:srgbClr val="262C35">
                  <a:alpha val="99000"/>
                </a:srgb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ctr">
              <a:lnSpc>
                <a:spcPts val="1197"/>
              </a:lnSpc>
              <a:buNone/>
            </a:pPr>
            <a:r>
              <a:rPr lang="en-US" sz="998" i="1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мес. (15 участий)</a:t>
            </a:r>
            <a:r>
              <a:rPr lang="en-US" sz="998" dirty="0">
                <a:solidFill>
                  <a:srgbClr val="262C3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73 200₽</a:t>
            </a:r>
            <a:endParaRPr lang="en-US" sz="998" dirty="0"/>
          </a:p>
        </p:txBody>
      </p:sp>
      <p:sp>
        <p:nvSpPr>
          <p:cNvPr id="11" name="Text 8"/>
          <p:cNvSpPr/>
          <p:nvPr/>
        </p:nvSpPr>
        <p:spPr>
          <a:xfrm>
            <a:off x="261937" y="171450"/>
            <a:ext cx="595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ESTP.RU</a:t>
            </a:r>
            <a:endParaRPr lang="en-US" sz="998" dirty="0"/>
          </a:p>
        </p:txBody>
      </p:sp>
      <p:sp>
        <p:nvSpPr>
          <p:cNvPr id="12" name="Text 9"/>
          <p:cNvSpPr/>
          <p:nvPr/>
        </p:nvSpPr>
        <p:spPr>
          <a:xfrm>
            <a:off x="1819275" y="2319338"/>
            <a:ext cx="2006073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4"/>
              </a:lnSpc>
              <a:buSzPct val="100000"/>
              <a:buChar char="•"/>
            </a:pPr>
            <a:r>
              <a:rPr lang="en-US" sz="96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Участие в закупках не более двух Заказчиков</a:t>
            </a:r>
            <a:endParaRPr lang="en-US" sz="962" dirty="0"/>
          </a:p>
          <a:p>
            <a:pPr marL="342900" indent="-342900" algn="l">
              <a:lnSpc>
                <a:spcPts val="1154"/>
              </a:lnSpc>
              <a:buSzPct val="100000"/>
              <a:buChar char="•"/>
            </a:pPr>
            <a:r>
              <a:rPr lang="en-US" sz="96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Настройка рабочего места </a:t>
            </a:r>
            <a:endParaRPr lang="en-US" sz="962" dirty="0"/>
          </a:p>
          <a:p>
            <a:pPr marL="342900" indent="-342900" algn="l">
              <a:lnSpc>
                <a:spcPts val="1154"/>
              </a:lnSpc>
              <a:buSzPct val="100000"/>
              <a:buChar char="•"/>
            </a:pPr>
            <a:r>
              <a:rPr lang="en-US" sz="96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Помощь с подбором закупок.</a:t>
            </a:r>
            <a:endParaRPr lang="en-US" sz="962" dirty="0"/>
          </a:p>
          <a:p>
            <a:pPr marL="342900" indent="-342900" algn="l">
              <a:lnSpc>
                <a:spcPts val="1154"/>
              </a:lnSpc>
              <a:buSzPct val="100000"/>
              <a:buChar char="•"/>
            </a:pPr>
            <a:r>
              <a:rPr lang="en-US" sz="96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Приглашения на закупки по e-mail.</a:t>
            </a:r>
            <a:endParaRPr lang="en-US" sz="962" dirty="0"/>
          </a:p>
        </p:txBody>
      </p:sp>
      <p:sp>
        <p:nvSpPr>
          <p:cNvPr id="13" name="Shape 10"/>
          <p:cNvSpPr/>
          <p:nvPr/>
        </p:nvSpPr>
        <p:spPr>
          <a:xfrm>
            <a:off x="1895475" y="2243138"/>
            <a:ext cx="2033588" cy="0"/>
          </a:xfrm>
          <a:prstGeom prst="line">
            <a:avLst/>
          </a:prstGeom>
          <a:noFill/>
          <a:ln w="4524">
            <a:solidFill>
              <a:srgbClr val="4A474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81613" y="2243138"/>
            <a:ext cx="2033588" cy="0"/>
          </a:xfrm>
          <a:prstGeom prst="line">
            <a:avLst/>
          </a:prstGeom>
          <a:noFill/>
          <a:ln w="4524">
            <a:solidFill>
              <a:srgbClr val="4A474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62250" y="1185863"/>
            <a:ext cx="300038" cy="300038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5525" y="1176338"/>
            <a:ext cx="323850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10213" y="852488"/>
            <a:ext cx="2547938" cy="3952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9163" y="681038"/>
            <a:ext cx="3081338" cy="9286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 r="35764" b="47150"/>
          <a:stretch/>
        </p:blipFill>
        <p:spPr>
          <a:xfrm>
            <a:off x="-2005723" y="2538412"/>
            <a:ext cx="11149721" cy="260508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61937" y="171450"/>
            <a:ext cx="595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ESTP.RU</a:t>
            </a:r>
            <a:endParaRPr lang="en-US" sz="998" dirty="0"/>
          </a:p>
        </p:txBody>
      </p:sp>
      <p:sp>
        <p:nvSpPr>
          <p:cNvPr id="6" name="Text 1"/>
          <p:cNvSpPr/>
          <p:nvPr/>
        </p:nvSpPr>
        <p:spPr>
          <a:xfrm>
            <a:off x="976312" y="171450"/>
            <a:ext cx="71961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ПОДДЕРЖКА ЗАКАЗЧИКОВ</a:t>
            </a:r>
            <a:endParaRPr lang="en-US" sz="2280" dirty="0"/>
          </a:p>
        </p:txBody>
      </p:sp>
      <p:sp>
        <p:nvSpPr>
          <p:cNvPr id="7" name="Text 2"/>
          <p:cNvSpPr/>
          <p:nvPr/>
        </p:nvSpPr>
        <p:spPr>
          <a:xfrm>
            <a:off x="1781175" y="97155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buNone/>
            </a:pPr>
            <a:r>
              <a:rPr lang="en-US" sz="1425" b="1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ТЕХНИЧЕСКАЯ</a:t>
            </a:r>
            <a:endParaRPr lang="en-US" sz="1425" dirty="0"/>
          </a:p>
        </p:txBody>
      </p:sp>
      <p:sp>
        <p:nvSpPr>
          <p:cNvPr id="8" name="Text 3"/>
          <p:cNvSpPr/>
          <p:nvPr/>
        </p:nvSpPr>
        <p:spPr>
          <a:xfrm>
            <a:off x="6057901" y="957263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buNone/>
            </a:pPr>
            <a:r>
              <a:rPr lang="en-US" sz="1425" b="1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ЮРИДИЧЕСКАЯ</a:t>
            </a:r>
            <a:endParaRPr lang="en-US" sz="1425" dirty="0"/>
          </a:p>
        </p:txBody>
      </p:sp>
      <p:sp>
        <p:nvSpPr>
          <p:cNvPr id="9" name="Text 4"/>
          <p:cNvSpPr/>
          <p:nvPr/>
        </p:nvSpPr>
        <p:spPr>
          <a:xfrm>
            <a:off x="1243013" y="1614488"/>
            <a:ext cx="22193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9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Настройка Личного Кабинета
</a:t>
            </a:r>
            <a:endParaRPr lang="en-US" sz="998" dirty="0"/>
          </a:p>
        </p:txBody>
      </p:sp>
      <p:sp>
        <p:nvSpPr>
          <p:cNvPr id="10" name="Text 5"/>
          <p:cNvSpPr/>
          <p:nvPr/>
        </p:nvSpPr>
        <p:spPr>
          <a:xfrm>
            <a:off x="738188" y="2038350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243013" y="2328863"/>
            <a:ext cx="287178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9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Предоставление разъяснений по вопросам, связанным с проведением закупочных процедур</a:t>
            </a:r>
            <a:endParaRPr lang="en-US" sz="998" dirty="0"/>
          </a:p>
        </p:txBody>
      </p:sp>
      <p:sp>
        <p:nvSpPr>
          <p:cNvPr id="13" name="Text 8"/>
          <p:cNvSpPr/>
          <p:nvPr/>
        </p:nvSpPr>
        <p:spPr>
          <a:xfrm>
            <a:off x="1243013" y="1962150"/>
            <a:ext cx="2647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9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работы электронной подписи</a:t>
            </a:r>
            <a:endParaRPr lang="en-US" sz="998" dirty="0"/>
          </a:p>
        </p:txBody>
      </p:sp>
      <p:sp>
        <p:nvSpPr>
          <p:cNvPr id="14" name="Shape 9"/>
          <p:cNvSpPr/>
          <p:nvPr/>
        </p:nvSpPr>
        <p:spPr>
          <a:xfrm rot="5400000">
            <a:off x="3069431" y="2374106"/>
            <a:ext cx="2833688" cy="0"/>
          </a:xfrm>
          <a:prstGeom prst="line">
            <a:avLst/>
          </a:prstGeom>
          <a:noFill/>
          <a:ln w="18097">
            <a:solidFill>
              <a:srgbClr val="4A4747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8688" y="1538288"/>
            <a:ext cx="238125" cy="238125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8688" y="1924050"/>
            <a:ext cx="238125" cy="238125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8688" y="2328863"/>
            <a:ext cx="238125" cy="238125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8688" y="2995613"/>
            <a:ext cx="238125" cy="23812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72050" y="2000250"/>
            <a:ext cx="238125" cy="238125"/>
          </a:xfrm>
          <a:prstGeom prst="rect">
            <a:avLst/>
          </a:prstGeom>
        </p:spPr>
      </p:pic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72050" y="2695575"/>
            <a:ext cx="238125" cy="238125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243013" y="2995613"/>
            <a:ext cx="297656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9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Консультирование по вопросам работы на площадке</a:t>
            </a:r>
            <a:endParaRPr lang="en-US" sz="998" dirty="0"/>
          </a:p>
        </p:txBody>
      </p:sp>
      <p:sp>
        <p:nvSpPr>
          <p:cNvPr id="23" name="Text 11"/>
          <p:cNvSpPr/>
          <p:nvPr/>
        </p:nvSpPr>
        <p:spPr>
          <a:xfrm>
            <a:off x="5295900" y="1995487"/>
            <a:ext cx="30956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9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мониторинг процедуры закупки - от момента планирования до публикации информации об исполнении договора</a:t>
            </a:r>
            <a:endParaRPr lang="en-US" sz="998" dirty="0"/>
          </a:p>
        </p:txBody>
      </p:sp>
      <p:sp>
        <p:nvSpPr>
          <p:cNvPr id="24" name="Text 12"/>
          <p:cNvSpPr/>
          <p:nvPr/>
        </p:nvSpPr>
        <p:spPr>
          <a:xfrm>
            <a:off x="5295900" y="2705100"/>
            <a:ext cx="2800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998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Помощь заказчикам во взаимодействии с контролирующими органами </a:t>
            </a:r>
            <a:endParaRPr lang="en-US" sz="99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4712" y="0"/>
            <a:ext cx="1919288" cy="3924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195263"/>
            <a:ext cx="645318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2280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ТЕХНОЛОГИЧЕСКАЯ НЕЗАВИСИМОСТЬ И ДОРАБОТКИ ПОД ВАС</a:t>
            </a:r>
            <a:endParaRPr lang="en-US" sz="2280" dirty="0"/>
          </a:p>
        </p:txBody>
      </p:sp>
      <p:sp>
        <p:nvSpPr>
          <p:cNvPr id="4" name="Text 1"/>
          <p:cNvSpPr/>
          <p:nvPr/>
        </p:nvSpPr>
        <p:spPr>
          <a:xfrm>
            <a:off x="7905750" y="128588"/>
            <a:ext cx="5953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F5F5F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ESTP.RU</a:t>
            </a:r>
            <a:endParaRPr lang="en-US" sz="998" dirty="0"/>
          </a:p>
        </p:txBody>
      </p:sp>
      <p:sp>
        <p:nvSpPr>
          <p:cNvPr id="5" name="Text 2"/>
          <p:cNvSpPr/>
          <p:nvPr/>
        </p:nvSpPr>
        <p:spPr>
          <a:xfrm>
            <a:off x="928688" y="1243013"/>
            <a:ext cx="39862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ПЕРСОНАЛИЗИРОВАННЫЕ КАБИНЕТЫ И БРЕНДИРОВАНИЕ</a:t>
            </a:r>
            <a:endParaRPr lang="en-US" sz="998" dirty="0"/>
          </a:p>
        </p:txBody>
      </p:sp>
      <p:sp>
        <p:nvSpPr>
          <p:cNvPr id="6" name="Text 3"/>
          <p:cNvSpPr/>
          <p:nvPr/>
        </p:nvSpPr>
        <p:spPr>
          <a:xfrm>
            <a:off x="928688" y="2324100"/>
            <a:ext cx="4114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ИНДИВИДУАЛЬНЫЙ ДИЗАЙН И ДОПОЛНИТЕЛЬНЫЕ ОТЧЕТЫ</a:t>
            </a:r>
            <a:endParaRPr lang="en-US" sz="998" dirty="0"/>
          </a:p>
        </p:txBody>
      </p:sp>
      <p:sp>
        <p:nvSpPr>
          <p:cNvPr id="7" name="Text 4"/>
          <p:cNvSpPr/>
          <p:nvPr/>
        </p:nvSpPr>
        <p:spPr>
          <a:xfrm>
            <a:off x="928688" y="1466850"/>
            <a:ext cx="38481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926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Каждому клиенту предоставляется личный кабинет. Индивидуальный поддомен и возможность брендирования тендеров под корпоративный стиль доступны как дополнительные платные опции.</a:t>
            </a:r>
            <a:endParaRPr lang="en-US" sz="926" dirty="0"/>
          </a:p>
        </p:txBody>
      </p:sp>
      <p:sp>
        <p:nvSpPr>
          <p:cNvPr id="8" name="Text 5"/>
          <p:cNvSpPr/>
          <p:nvPr/>
        </p:nvSpPr>
        <p:spPr>
          <a:xfrm>
            <a:off x="928688" y="2547938"/>
            <a:ext cx="39909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926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Платформа позволяет применять уникальный дизайн интерфейса и по запросу клиента формировать любую индивидуальную отчетность, что упрощает анализ закупок и повышает удобство использования.</a:t>
            </a:r>
            <a:endParaRPr lang="en-US" sz="926" dirty="0"/>
          </a:p>
        </p:txBody>
      </p:sp>
      <p:sp>
        <p:nvSpPr>
          <p:cNvPr id="9" name="Text 6"/>
          <p:cNvSpPr/>
          <p:nvPr/>
        </p:nvSpPr>
        <p:spPr>
          <a:xfrm>
            <a:off x="928688" y="3667125"/>
            <a:ext cx="4114800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926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Реализуются индивидуальные разработки исходя из пожеланий клиента, возможна установка платформы на собственных серверах заказчика, а также прямая интеграция с информационными системами без использования промежуточных Excel-файлов.</a:t>
            </a:r>
            <a:endParaRPr lang="en-US" sz="926" dirty="0"/>
          </a:p>
        </p:txBody>
      </p:sp>
      <p:sp>
        <p:nvSpPr>
          <p:cNvPr id="10" name="Text 7"/>
          <p:cNvSpPr/>
          <p:nvPr/>
        </p:nvSpPr>
        <p:spPr>
          <a:xfrm>
            <a:off x="928688" y="3452813"/>
            <a:ext cx="37861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998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КАСТОМИЗАЦИЯ И ВНЕДРЕНИЕ НА СЕРВЕРАХ КЛИЕНТА</a:t>
            </a:r>
            <a:endParaRPr lang="en-US" sz="998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00750" y="1785938"/>
            <a:ext cx="1905000" cy="190500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2450" y="1152525"/>
            <a:ext cx="323850" cy="32385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4825" y="2262188"/>
            <a:ext cx="328613" cy="328613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0975" y="3624263"/>
            <a:ext cx="285750" cy="28575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42925" y="3376613"/>
            <a:ext cx="290513" cy="2905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204" b="34893"/>
          <a:stretch/>
        </p:blipFill>
        <p:spPr>
          <a:xfrm>
            <a:off x="4486275" y="2824163"/>
            <a:ext cx="4657725" cy="231933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33525" y="3214688"/>
            <a:ext cx="590550" cy="1285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8613" y="733425"/>
            <a:ext cx="652463" cy="2428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8613" y="1476375"/>
            <a:ext cx="614363" cy="30956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28613" y="209550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buNone/>
            </a:pPr>
            <a:r>
              <a:rPr lang="en-US" sz="1425" b="1" dirty="0">
                <a:solidFill>
                  <a:srgbClr val="4A4747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НАМ ДОВЕРЯЮТ:</a:t>
            </a:r>
            <a:endParaRPr lang="en-US" sz="1425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1488" y="2352675"/>
            <a:ext cx="295275" cy="29527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1475" y="3167063"/>
            <a:ext cx="485775" cy="223838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81163" y="619125"/>
            <a:ext cx="314325" cy="357188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04800" y="4043363"/>
            <a:ext cx="681038" cy="381000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609725" y="4071938"/>
            <a:ext cx="376238" cy="361950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557338" y="1495425"/>
            <a:ext cx="566738" cy="271463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524000" y="2381250"/>
            <a:ext cx="628650" cy="266700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381000" y="1019175"/>
            <a:ext cx="4714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ПАО “ПИК»</a:t>
            </a:r>
            <a:endParaRPr lang="en-US" sz="641" dirty="0"/>
          </a:p>
        </p:txBody>
      </p:sp>
      <p:sp>
        <p:nvSpPr>
          <p:cNvPr id="15" name="Text 2"/>
          <p:cNvSpPr/>
          <p:nvPr/>
        </p:nvSpPr>
        <p:spPr>
          <a:xfrm>
            <a:off x="328613" y="1828800"/>
            <a:ext cx="5572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ООО  «Сэтл Групп»</a:t>
            </a:r>
            <a:endParaRPr lang="en-US" sz="641" dirty="0"/>
          </a:p>
        </p:txBody>
      </p:sp>
      <p:sp>
        <p:nvSpPr>
          <p:cNvPr id="16" name="Text 3"/>
          <p:cNvSpPr/>
          <p:nvPr/>
        </p:nvSpPr>
        <p:spPr>
          <a:xfrm>
            <a:off x="328613" y="2690813"/>
            <a:ext cx="6191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ООО «Яндекс»</a:t>
            </a:r>
            <a:endParaRPr lang="en-US" sz="641" dirty="0"/>
          </a:p>
        </p:txBody>
      </p:sp>
      <p:sp>
        <p:nvSpPr>
          <p:cNvPr id="17" name="Text 4"/>
          <p:cNvSpPr/>
          <p:nvPr/>
        </p:nvSpPr>
        <p:spPr>
          <a:xfrm>
            <a:off x="209550" y="3443288"/>
            <a:ext cx="819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ОАО «Российские  железные дороги»</a:t>
            </a:r>
            <a:endParaRPr lang="en-US" sz="641" dirty="0"/>
          </a:p>
        </p:txBody>
      </p:sp>
      <p:sp>
        <p:nvSpPr>
          <p:cNvPr id="18" name="Text 5"/>
          <p:cNvSpPr/>
          <p:nvPr/>
        </p:nvSpPr>
        <p:spPr>
          <a:xfrm>
            <a:off x="223838" y="4500563"/>
            <a:ext cx="809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АО «Птицефабрика  Роскар»</a:t>
            </a:r>
            <a:endParaRPr lang="en-US" sz="641" dirty="0"/>
          </a:p>
        </p:txBody>
      </p:sp>
      <p:sp>
        <p:nvSpPr>
          <p:cNvPr id="19" name="Text 6"/>
          <p:cNvSpPr/>
          <p:nvPr/>
        </p:nvSpPr>
        <p:spPr>
          <a:xfrm>
            <a:off x="1609725" y="1019175"/>
            <a:ext cx="4619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РСК «МиГ»</a:t>
            </a:r>
            <a:endParaRPr lang="en-US" sz="641" dirty="0"/>
          </a:p>
        </p:txBody>
      </p:sp>
      <p:sp>
        <p:nvSpPr>
          <p:cNvPr id="20" name="Text 7"/>
          <p:cNvSpPr/>
          <p:nvPr/>
        </p:nvSpPr>
        <p:spPr>
          <a:xfrm>
            <a:off x="1433513" y="1828800"/>
            <a:ext cx="819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АО «Почта России»</a:t>
            </a:r>
            <a:endParaRPr lang="en-US" sz="641" dirty="0"/>
          </a:p>
        </p:txBody>
      </p:sp>
      <p:sp>
        <p:nvSpPr>
          <p:cNvPr id="21" name="Text 8"/>
          <p:cNvSpPr/>
          <p:nvPr/>
        </p:nvSpPr>
        <p:spPr>
          <a:xfrm>
            <a:off x="1462088" y="2690813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ПАО "Банк ПСБ»</a:t>
            </a:r>
            <a:endParaRPr lang="en-US" sz="641" dirty="0"/>
          </a:p>
        </p:txBody>
      </p:sp>
      <p:sp>
        <p:nvSpPr>
          <p:cNvPr id="22" name="Text 9"/>
          <p:cNvSpPr/>
          <p:nvPr/>
        </p:nvSpPr>
        <p:spPr>
          <a:xfrm>
            <a:off x="1524000" y="3443288"/>
            <a:ext cx="585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АО «Тяжмаш»</a:t>
            </a:r>
            <a:endParaRPr lang="en-US" sz="641" dirty="0"/>
          </a:p>
        </p:txBody>
      </p:sp>
      <p:sp>
        <p:nvSpPr>
          <p:cNvPr id="23" name="Text 10"/>
          <p:cNvSpPr/>
          <p:nvPr/>
        </p:nvSpPr>
        <p:spPr>
          <a:xfrm>
            <a:off x="1343025" y="4476750"/>
            <a:ext cx="10001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Московский </a:t>
            </a:r>
            <a:endParaRPr lang="en-US" sz="641" dirty="0"/>
          </a:p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Авиационный Институт</a:t>
            </a:r>
            <a:endParaRPr lang="en-US" sz="641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2981325" y="619125"/>
            <a:ext cx="371475" cy="371475"/>
          </a:xfrm>
          <a:prstGeom prst="rect">
            <a:avLst/>
          </a:prstGeom>
        </p:spPr>
      </p:pic>
      <p:pic>
        <p:nvPicPr>
          <p:cNvPr id="25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2738438" y="1533525"/>
            <a:ext cx="852488" cy="200025"/>
          </a:xfrm>
          <a:prstGeom prst="rect">
            <a:avLst/>
          </a:prstGeom>
        </p:spPr>
      </p:pic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2847975" y="2419350"/>
            <a:ext cx="571500" cy="190500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2909888" y="3062288"/>
            <a:ext cx="442913" cy="328613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2605088" y="3443288"/>
            <a:ext cx="10572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ООО «Союзмультфильм»</a:t>
            </a:r>
            <a:endParaRPr lang="en-US" sz="641" dirty="0"/>
          </a:p>
        </p:txBody>
      </p:sp>
      <p:sp>
        <p:nvSpPr>
          <p:cNvPr id="29" name="Text 12"/>
          <p:cNvSpPr/>
          <p:nvPr/>
        </p:nvSpPr>
        <p:spPr>
          <a:xfrm>
            <a:off x="2643188" y="2690813"/>
            <a:ext cx="10429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ПАО «Компания «Сухой»</a:t>
            </a:r>
            <a:endParaRPr lang="en-US" sz="641" dirty="0"/>
          </a:p>
        </p:txBody>
      </p:sp>
      <p:sp>
        <p:nvSpPr>
          <p:cNvPr id="30" name="Text 13"/>
          <p:cNvSpPr/>
          <p:nvPr/>
        </p:nvSpPr>
        <p:spPr>
          <a:xfrm>
            <a:off x="2647950" y="1828800"/>
            <a:ext cx="10382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ООО «Аэропорт Байкал»</a:t>
            </a:r>
            <a:endParaRPr lang="en-US" sz="641" dirty="0"/>
          </a:p>
        </p:txBody>
      </p:sp>
      <p:sp>
        <p:nvSpPr>
          <p:cNvPr id="31" name="Text 14"/>
          <p:cNvSpPr/>
          <p:nvPr/>
        </p:nvSpPr>
        <p:spPr>
          <a:xfrm>
            <a:off x="2919413" y="1019175"/>
            <a:ext cx="5000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НИЦЭБ РАН</a:t>
            </a:r>
            <a:endParaRPr lang="en-US" sz="641" dirty="0"/>
          </a:p>
        </p:txBody>
      </p:sp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2762250" y="4033837"/>
            <a:ext cx="657225" cy="366713"/>
          </a:xfrm>
          <a:prstGeom prst="rect">
            <a:avLst/>
          </a:prstGeom>
        </p:spPr>
      </p:pic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129088" y="3167063"/>
            <a:ext cx="762000" cy="142875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4129088" y="2395538"/>
            <a:ext cx="714375" cy="214313"/>
          </a:xfrm>
          <a:prstGeom prst="rect">
            <a:avLst/>
          </a:prstGeom>
        </p:spPr>
      </p:pic>
      <p:pic>
        <p:nvPicPr>
          <p:cNvPr id="35" name="Image 18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4157663" y="628650"/>
            <a:ext cx="700088" cy="342900"/>
          </a:xfrm>
          <a:prstGeom prst="rect">
            <a:avLst/>
          </a:prstGeom>
        </p:spPr>
      </p:pic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4129088" y="1514475"/>
            <a:ext cx="762000" cy="233362"/>
          </a:xfrm>
          <a:prstGeom prst="rect">
            <a:avLst/>
          </a:prstGeom>
        </p:spPr>
      </p:pic>
      <p:sp>
        <p:nvSpPr>
          <p:cNvPr id="37" name="Text 15"/>
          <p:cNvSpPr/>
          <p:nvPr/>
        </p:nvSpPr>
        <p:spPr>
          <a:xfrm>
            <a:off x="4148137" y="3443288"/>
            <a:ext cx="695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ООО «Валроса»</a:t>
            </a:r>
            <a:endParaRPr lang="en-US" sz="641" dirty="0"/>
          </a:p>
        </p:txBody>
      </p:sp>
      <p:sp>
        <p:nvSpPr>
          <p:cNvPr id="38" name="Text 16"/>
          <p:cNvSpPr/>
          <p:nvPr/>
        </p:nvSpPr>
        <p:spPr>
          <a:xfrm>
            <a:off x="4271963" y="2690813"/>
            <a:ext cx="4762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ПАО «ОАК»</a:t>
            </a:r>
            <a:endParaRPr lang="en-US" sz="641" dirty="0"/>
          </a:p>
        </p:txBody>
      </p:sp>
      <p:sp>
        <p:nvSpPr>
          <p:cNvPr id="39" name="Text 17"/>
          <p:cNvSpPr/>
          <p:nvPr/>
        </p:nvSpPr>
        <p:spPr>
          <a:xfrm>
            <a:off x="4105275" y="1828800"/>
            <a:ext cx="8048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АО «РМ НАНОТЕХ»</a:t>
            </a:r>
            <a:endParaRPr lang="en-US" sz="641" dirty="0"/>
          </a:p>
        </p:txBody>
      </p:sp>
      <p:sp>
        <p:nvSpPr>
          <p:cNvPr id="40" name="Text 18"/>
          <p:cNvSpPr/>
          <p:nvPr/>
        </p:nvSpPr>
        <p:spPr>
          <a:xfrm>
            <a:off x="4157663" y="1019175"/>
            <a:ext cx="7000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ГАЗПРОМ Нефть</a:t>
            </a:r>
            <a:endParaRPr lang="en-US" sz="641" dirty="0"/>
          </a:p>
        </p:txBody>
      </p:sp>
      <p:sp>
        <p:nvSpPr>
          <p:cNvPr id="41" name="Text 19"/>
          <p:cNvSpPr/>
          <p:nvPr/>
        </p:nvSpPr>
        <p:spPr>
          <a:xfrm>
            <a:off x="2781300" y="4500563"/>
            <a:ext cx="800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ГУПС «Водоканал»</a:t>
            </a:r>
            <a:endParaRPr lang="en-US" sz="641" dirty="0"/>
          </a:p>
        </p:txBody>
      </p:sp>
      <p:pic>
        <p:nvPicPr>
          <p:cNvPr id="42" name="Image 20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4291013" y="3990975"/>
            <a:ext cx="390525" cy="409575"/>
          </a:xfrm>
          <a:prstGeom prst="rect">
            <a:avLst/>
          </a:prstGeom>
        </p:spPr>
      </p:pic>
      <p:pic>
        <p:nvPicPr>
          <p:cNvPr id="43" name="Image 21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5576888" y="1481138"/>
            <a:ext cx="419100" cy="300038"/>
          </a:xfrm>
          <a:prstGeom prst="rect">
            <a:avLst/>
          </a:prstGeom>
        </p:spPr>
      </p:pic>
      <p:pic>
        <p:nvPicPr>
          <p:cNvPr id="44" name="Image 22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5476875" y="3043238"/>
            <a:ext cx="614363" cy="366713"/>
          </a:xfrm>
          <a:prstGeom prst="rect">
            <a:avLst/>
          </a:prstGeom>
        </p:spPr>
      </p:pic>
      <p:pic>
        <p:nvPicPr>
          <p:cNvPr id="45" name="Image 23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5553075" y="704850"/>
            <a:ext cx="485775" cy="300038"/>
          </a:xfrm>
          <a:prstGeom prst="rect">
            <a:avLst/>
          </a:prstGeom>
        </p:spPr>
      </p:pic>
      <p:pic>
        <p:nvPicPr>
          <p:cNvPr id="46" name="Image 24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6910388" y="1400175"/>
            <a:ext cx="266700" cy="366713"/>
          </a:xfrm>
          <a:prstGeom prst="rect">
            <a:avLst/>
          </a:prstGeom>
        </p:spPr>
      </p:pic>
      <p:pic>
        <p:nvPicPr>
          <p:cNvPr id="47" name="Image 25" descr="preencoded.png"/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5643563" y="3990975"/>
            <a:ext cx="285750" cy="433388"/>
          </a:xfrm>
          <a:prstGeom prst="rect">
            <a:avLst/>
          </a:prstGeom>
        </p:spPr>
      </p:pic>
      <p:sp>
        <p:nvSpPr>
          <p:cNvPr id="48" name="Text 20"/>
          <p:cNvSpPr/>
          <p:nvPr/>
        </p:nvSpPr>
        <p:spPr>
          <a:xfrm>
            <a:off x="5595938" y="4500563"/>
            <a:ext cx="3952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СПБГАСУ</a:t>
            </a:r>
            <a:endParaRPr lang="en-US" sz="641" dirty="0"/>
          </a:p>
        </p:txBody>
      </p:sp>
      <p:sp>
        <p:nvSpPr>
          <p:cNvPr id="49" name="Text 21"/>
          <p:cNvSpPr/>
          <p:nvPr/>
        </p:nvSpPr>
        <p:spPr>
          <a:xfrm>
            <a:off x="4062412" y="4500563"/>
            <a:ext cx="9048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АО МГК «ИНТЕХРОС"</a:t>
            </a:r>
            <a:endParaRPr lang="en-US" sz="641" dirty="0"/>
          </a:p>
        </p:txBody>
      </p:sp>
      <p:sp>
        <p:nvSpPr>
          <p:cNvPr id="50" name="Text 22"/>
          <p:cNvSpPr/>
          <p:nvPr/>
        </p:nvSpPr>
        <p:spPr>
          <a:xfrm>
            <a:off x="4929188" y="3443288"/>
            <a:ext cx="17097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АО «Международный </a:t>
            </a:r>
            <a:endParaRPr lang="en-US" sz="641" dirty="0"/>
          </a:p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Аэропорт Ставрополь»</a:t>
            </a:r>
            <a:endParaRPr lang="en-US" sz="641" dirty="0"/>
          </a:p>
        </p:txBody>
      </p:sp>
      <p:sp>
        <p:nvSpPr>
          <p:cNvPr id="51" name="Text 23"/>
          <p:cNvSpPr/>
          <p:nvPr/>
        </p:nvSpPr>
        <p:spPr>
          <a:xfrm>
            <a:off x="5343525" y="1828800"/>
            <a:ext cx="885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МУП «ВОДОКАНАЛ» г. Улан-Удэ</a:t>
            </a:r>
            <a:endParaRPr lang="en-US" sz="641" dirty="0"/>
          </a:p>
        </p:txBody>
      </p:sp>
      <p:sp>
        <p:nvSpPr>
          <p:cNvPr id="52" name="Text 24"/>
          <p:cNvSpPr/>
          <p:nvPr/>
        </p:nvSpPr>
        <p:spPr>
          <a:xfrm>
            <a:off x="5381625" y="1019175"/>
            <a:ext cx="8334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АО МГК "Интехрос»</a:t>
            </a:r>
            <a:endParaRPr lang="en-US" sz="641" dirty="0"/>
          </a:p>
        </p:txBody>
      </p:sp>
      <p:sp>
        <p:nvSpPr>
          <p:cNvPr id="53" name="Text 25"/>
          <p:cNvSpPr/>
          <p:nvPr/>
        </p:nvSpPr>
        <p:spPr>
          <a:xfrm>
            <a:off x="6877050" y="1862138"/>
            <a:ext cx="3381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СПБГЭУ</a:t>
            </a:r>
            <a:endParaRPr lang="en-US" sz="641" dirty="0"/>
          </a:p>
        </p:txBody>
      </p:sp>
      <p:pic>
        <p:nvPicPr>
          <p:cNvPr id="54" name="Image 26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6886575" y="652463"/>
            <a:ext cx="304800" cy="304800"/>
          </a:xfrm>
          <a:prstGeom prst="rect">
            <a:avLst/>
          </a:prstGeom>
        </p:spPr>
      </p:pic>
      <p:pic>
        <p:nvPicPr>
          <p:cNvPr id="55" name="Image 27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7815263" y="709613"/>
            <a:ext cx="938213" cy="247650"/>
          </a:xfrm>
          <a:prstGeom prst="rect">
            <a:avLst/>
          </a:prstGeom>
        </p:spPr>
      </p:pic>
      <p:pic>
        <p:nvPicPr>
          <p:cNvPr id="56" name="Image 28" descr="preencoded.png"/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6677025" y="2328863"/>
            <a:ext cx="652463" cy="185738"/>
          </a:xfrm>
          <a:prstGeom prst="rect">
            <a:avLst/>
          </a:prstGeom>
        </p:spPr>
      </p:pic>
      <p:pic>
        <p:nvPicPr>
          <p:cNvPr id="57" name="Image 29" descr="preencoded.png"/>
          <p:cNvPicPr>
            <a:picLocks noChangeAspect="1"/>
          </p:cNvPicPr>
          <p:nvPr/>
        </p:nvPicPr>
        <p:blipFill>
          <a:blip r:embed="rId32"/>
          <a:srcRect/>
          <a:stretch/>
        </p:blipFill>
        <p:spPr>
          <a:xfrm>
            <a:off x="6748463" y="3038475"/>
            <a:ext cx="581025" cy="352425"/>
          </a:xfrm>
          <a:prstGeom prst="rect">
            <a:avLst/>
          </a:prstGeom>
        </p:spPr>
      </p:pic>
      <p:sp>
        <p:nvSpPr>
          <p:cNvPr id="58" name="Text 26"/>
          <p:cNvSpPr/>
          <p:nvPr/>
        </p:nvSpPr>
        <p:spPr>
          <a:xfrm>
            <a:off x="6662738" y="2671763"/>
            <a:ext cx="7381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ООО «Элемент-Трейд»</a:t>
            </a:r>
            <a:endParaRPr lang="en-US" sz="641" dirty="0"/>
          </a:p>
        </p:txBody>
      </p:sp>
      <p:pic>
        <p:nvPicPr>
          <p:cNvPr id="59" name="Image 30" descr="preencoded.png"/>
          <p:cNvPicPr>
            <a:picLocks noChangeAspect="1"/>
          </p:cNvPicPr>
          <p:nvPr/>
        </p:nvPicPr>
        <p:blipFill>
          <a:blip r:embed="rId33"/>
          <a:srcRect/>
          <a:stretch/>
        </p:blipFill>
        <p:spPr>
          <a:xfrm>
            <a:off x="7900988" y="1457325"/>
            <a:ext cx="766763" cy="276225"/>
          </a:xfrm>
          <a:prstGeom prst="rect">
            <a:avLst/>
          </a:prstGeom>
        </p:spPr>
      </p:pic>
      <p:sp>
        <p:nvSpPr>
          <p:cNvPr id="60" name="Text 27"/>
          <p:cNvSpPr/>
          <p:nvPr/>
        </p:nvSpPr>
        <p:spPr>
          <a:xfrm>
            <a:off x="7715250" y="1828800"/>
            <a:ext cx="11382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ООО «СИБИРСКАЯ </a:t>
            </a:r>
            <a:endParaRPr lang="en-US" sz="641" dirty="0"/>
          </a:p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ЛИЗИНГОВАЯ КОМПАНИЯ»</a:t>
            </a:r>
            <a:endParaRPr lang="en-US" sz="641" dirty="0"/>
          </a:p>
        </p:txBody>
      </p:sp>
      <p:sp>
        <p:nvSpPr>
          <p:cNvPr id="61" name="Text 28"/>
          <p:cNvSpPr/>
          <p:nvPr/>
        </p:nvSpPr>
        <p:spPr>
          <a:xfrm>
            <a:off x="6438900" y="1019175"/>
            <a:ext cx="12049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АО «Международный аэропорт «Краснодар»</a:t>
            </a:r>
            <a:endParaRPr lang="en-US" sz="641" dirty="0"/>
          </a:p>
        </p:txBody>
      </p:sp>
      <p:sp>
        <p:nvSpPr>
          <p:cNvPr id="62" name="Text 29"/>
          <p:cNvSpPr/>
          <p:nvPr/>
        </p:nvSpPr>
        <p:spPr>
          <a:xfrm>
            <a:off x="6519863" y="3443288"/>
            <a:ext cx="10382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ООО «ВО Технопромэкспорт»</a:t>
            </a:r>
            <a:endParaRPr lang="en-US" sz="641" dirty="0"/>
          </a:p>
        </p:txBody>
      </p:sp>
      <p:sp>
        <p:nvSpPr>
          <p:cNvPr id="63" name="Text 30"/>
          <p:cNvSpPr/>
          <p:nvPr/>
        </p:nvSpPr>
        <p:spPr>
          <a:xfrm>
            <a:off x="7791450" y="1019175"/>
            <a:ext cx="990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ООО "СК «Согласие»</a:t>
            </a:r>
            <a:endParaRPr lang="en-US" sz="641" dirty="0"/>
          </a:p>
        </p:txBody>
      </p:sp>
      <p:pic>
        <p:nvPicPr>
          <p:cNvPr id="64" name="Image 31" descr="preencoded.png"/>
          <p:cNvPicPr>
            <a:picLocks noChangeAspect="1"/>
          </p:cNvPicPr>
          <p:nvPr/>
        </p:nvPicPr>
        <p:blipFill>
          <a:blip r:embed="rId34"/>
          <a:srcRect/>
          <a:stretch/>
        </p:blipFill>
        <p:spPr>
          <a:xfrm>
            <a:off x="7915275" y="2400300"/>
            <a:ext cx="738188" cy="209550"/>
          </a:xfrm>
          <a:prstGeom prst="rect">
            <a:avLst/>
          </a:prstGeom>
        </p:spPr>
      </p:pic>
      <p:sp>
        <p:nvSpPr>
          <p:cNvPr id="65" name="Text 31"/>
          <p:cNvSpPr/>
          <p:nvPr/>
        </p:nvSpPr>
        <p:spPr>
          <a:xfrm>
            <a:off x="7948613" y="2690813"/>
            <a:ext cx="6762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ООО «А ГРУПП»</a:t>
            </a:r>
            <a:endParaRPr lang="en-US" sz="641" dirty="0"/>
          </a:p>
        </p:txBody>
      </p:sp>
      <p:pic>
        <p:nvPicPr>
          <p:cNvPr id="66" name="Image 32" descr="preencoded.png"/>
          <p:cNvPicPr>
            <a:picLocks noChangeAspect="1"/>
          </p:cNvPicPr>
          <p:nvPr/>
        </p:nvPicPr>
        <p:blipFill>
          <a:blip r:embed="rId35"/>
          <a:srcRect/>
          <a:stretch/>
        </p:blipFill>
        <p:spPr>
          <a:xfrm>
            <a:off x="6877050" y="4076700"/>
            <a:ext cx="323850" cy="357188"/>
          </a:xfrm>
          <a:prstGeom prst="rect">
            <a:avLst/>
          </a:prstGeom>
        </p:spPr>
      </p:pic>
      <p:sp>
        <p:nvSpPr>
          <p:cNvPr id="67" name="Text 32"/>
          <p:cNvSpPr/>
          <p:nvPr/>
        </p:nvSpPr>
        <p:spPr>
          <a:xfrm>
            <a:off x="6581775" y="4500563"/>
            <a:ext cx="9525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АО «АГД ДАЙМОНДС»</a:t>
            </a:r>
            <a:endParaRPr lang="en-US" sz="641" dirty="0"/>
          </a:p>
        </p:txBody>
      </p:sp>
      <p:pic>
        <p:nvPicPr>
          <p:cNvPr id="68" name="Image 33" descr="preencoded.png"/>
          <p:cNvPicPr>
            <a:picLocks noChangeAspect="1"/>
          </p:cNvPicPr>
          <p:nvPr/>
        </p:nvPicPr>
        <p:blipFill>
          <a:blip r:embed="rId36"/>
          <a:srcRect/>
          <a:stretch/>
        </p:blipFill>
        <p:spPr>
          <a:xfrm>
            <a:off x="5562600" y="2319338"/>
            <a:ext cx="461963" cy="304800"/>
          </a:xfrm>
          <a:prstGeom prst="rect">
            <a:avLst/>
          </a:prstGeom>
        </p:spPr>
      </p:pic>
      <p:sp>
        <p:nvSpPr>
          <p:cNvPr id="69" name="Text 33"/>
          <p:cNvSpPr/>
          <p:nvPr/>
        </p:nvSpPr>
        <p:spPr>
          <a:xfrm>
            <a:off x="5310188" y="2690813"/>
            <a:ext cx="966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"/>
              </a:lnSpc>
              <a:buNone/>
            </a:pPr>
            <a:r>
              <a:rPr lang="en-US" sz="64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ООО "КАПИТАЛ ГРУП"</a:t>
            </a:r>
            <a:endParaRPr lang="en-US" sz="64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D9D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31355" b="66356"/>
          <a:stretch/>
        </p:blipFill>
        <p:spPr>
          <a:xfrm>
            <a:off x="0" y="3595687"/>
            <a:ext cx="9144000" cy="1677131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FAFC590F-A466-8BFF-4273-7AB505CD3924}"/>
              </a:ext>
            </a:extLst>
          </p:cNvPr>
          <p:cNvSpPr/>
          <p:nvPr/>
        </p:nvSpPr>
        <p:spPr>
          <a:xfrm>
            <a:off x="857250" y="662613"/>
            <a:ext cx="791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25"/>
              </a:lnSpc>
              <a:buNone/>
            </a:pPr>
            <a:r>
              <a:rPr lang="en-US" sz="142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КОНТАКТНАЯ ИНФОРМАЦИЯ:</a:t>
            </a:r>
            <a:endParaRPr lang="en-US" sz="1425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BCDEEB65-6C0B-6EF8-9E85-789D66BE81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9796" y="1500952"/>
            <a:ext cx="192286" cy="192286"/>
          </a:xfrm>
          <a:prstGeom prst="rect">
            <a:avLst/>
          </a:prstGeom>
        </p:spPr>
      </p:pic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C60C1212-9EF7-1099-86F1-512EC67265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9796" y="2305758"/>
            <a:ext cx="257175" cy="257175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4DAFCD1F-C55D-5189-C933-08A6C3F69D6A}"/>
              </a:ext>
            </a:extLst>
          </p:cNvPr>
          <p:cNvSpPr/>
          <p:nvPr/>
        </p:nvSpPr>
        <p:spPr>
          <a:xfrm>
            <a:off x="882551" y="1157213"/>
            <a:ext cx="4974882" cy="1409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79"/>
              </a:lnSpc>
            </a:pPr>
            <a:r>
              <a:rPr lang="ru-RU" sz="123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Грищенко Максим Юрьевич</a:t>
            </a:r>
          </a:p>
          <a:p>
            <a:pPr>
              <a:lnSpc>
                <a:spcPts val="1479"/>
              </a:lnSpc>
            </a:pPr>
            <a:r>
              <a:rPr lang="ru-RU" sz="123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Менеджер по работе с клиентами</a:t>
            </a:r>
          </a:p>
          <a:p>
            <a:pPr>
              <a:lnSpc>
                <a:spcPts val="1479"/>
              </a:lnSpc>
            </a:pPr>
            <a:r>
              <a:rPr lang="ru-RU" sz="123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+7-965-764-77-91</a:t>
            </a:r>
          </a:p>
          <a:p>
            <a:pPr>
              <a:lnSpc>
                <a:spcPts val="1479"/>
              </a:lnSpc>
            </a:pPr>
            <a:r>
              <a:rPr lang="ru-RU" sz="123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+7-495-212-14-55 (доб. 162 )</a:t>
            </a:r>
          </a:p>
          <a:p>
            <a:pPr>
              <a:lnSpc>
                <a:spcPts val="1479"/>
              </a:lnSpc>
            </a:pPr>
            <a:r>
              <a:rPr lang="ru-RU" sz="123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 (800) 555-20-83 (доб. 162 ) Звонок бесплатный</a:t>
            </a:r>
            <a:br>
              <a:rPr lang="ru-RU" sz="123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endParaRPr lang="ru-RU" sz="1232" b="1" dirty="0">
              <a:solidFill>
                <a:srgbClr val="FFFFFF">
                  <a:alpha val="99000"/>
                </a:srgb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ts val="1479"/>
              </a:lnSpc>
            </a:pPr>
            <a:r>
              <a:rPr lang="ru-RU" sz="1232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m.grishenko@estp.ru </a:t>
            </a:r>
            <a:endParaRPr lang="en-US" sz="123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806</Words>
  <Application>Microsoft Office PowerPoint</Application>
  <PresentationFormat>Экран (16:9)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Bricolage Grotesque</vt:lpstr>
      <vt:lpstr>Inter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Максим</cp:lastModifiedBy>
  <cp:revision>9</cp:revision>
  <dcterms:created xsi:type="dcterms:W3CDTF">2026-07-24T10:52:54Z</dcterms:created>
  <dcterms:modified xsi:type="dcterms:W3CDTF">2026-07-24T14:34:02Z</dcterms:modified>
</cp:coreProperties>
</file>